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Macro Scenario Impact — Portfolio 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UK Personal Lines Digital Twin | Board Simulation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Paid Loss Impact — Scenario Comparison (Gross)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7955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1554480"/>
                <a:gridCol w="1371600"/>
                <a:gridCol w="1097280"/>
              </a:tblGrid>
              <a:tr h="613954">
                <a:tc>
                  <a:txBody>
                    <a:bodyPr/>
                    <a:lstStyle/>
                    <a:p>
                      <a:r>
                        <a:rPr sz="1200" b="1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Baseline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Scenario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 (%)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100"/>
                        <a:t>Compound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£866,729,833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£132,477,139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18.0%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100"/>
                        <a:t>CAT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£856,424,633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£122,171,938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16.6%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100"/>
                        <a:t>Stagflation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£805,668,170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£71,415,475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9.7%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100"/>
                        <a:t>Repair cost shock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£797,609,626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£63,356,931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8.6%</a:t>
                      </a: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100"/>
                        <a:t>Inflation shock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£743,087,566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£8,834,871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1.2%</a:t>
                      </a:r>
                    </a:p>
                  </a:txBody>
                  <a:tcPr/>
                </a:tc>
              </a:tr>
              <a:tr h="613956">
                <a:tc>
                  <a:txBody>
                    <a:bodyPr/>
                    <a:lstStyle/>
                    <a:p>
                      <a:r>
                        <a:rPr sz="11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Attribution — Stagflation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67665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554480"/>
                <a:gridCol w="1371600"/>
                <a:gridCol w="1097280"/>
              </a:tblGrid>
              <a:tr h="716280">
                <a:tc>
                  <a:txBody>
                    <a:bodyPr/>
                    <a:lstStyle/>
                    <a:p>
                      <a:r>
                        <a:rPr sz="1200" b="1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Baseline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Scenario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 (%)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100"/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£14,461,699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£16,054,048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£1,592,349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11.0%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100"/>
                        <a:t>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£221,914,425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£244,342,833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£22,428,407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10.1%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100"/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£275,574,027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£302,184,987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£26,610,960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9.7%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100"/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£198,779,859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£217,411,870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£18,632,011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9.4%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100"/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£23,522,684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£25,674,433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£2,151,749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Uncertainty — Inflation +10% (Bootstrap Band)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73152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463040"/>
                <a:gridCol w="1005840"/>
                <a:gridCol w="1005840"/>
              </a:tblGrid>
              <a:tr h="2148840">
                <a:tc>
                  <a:txBody>
                    <a:bodyPr/>
                    <a:lstStyle/>
                    <a:p>
                      <a:r>
                        <a:rPr sz="1200" b="1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Point estimate (engine)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Bootstrap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Bootstrap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Bootstrap 95%</a:t>
                      </a:r>
                    </a:p>
                  </a:txBody>
                  <a:tcPr/>
                </a:tc>
              </a:tr>
              <a:tr h="2148840">
                <a:tc>
                  <a:txBody>
                    <a:bodyPr/>
                    <a:lstStyle/>
                    <a:p>
                      <a:r>
                        <a:rPr sz="1100"/>
                        <a:t>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